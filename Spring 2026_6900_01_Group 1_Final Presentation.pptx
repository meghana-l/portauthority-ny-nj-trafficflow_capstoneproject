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40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-authority-ny-nj-traffic-flow-c.vercel.ap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NY · NJ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Harshita Bajaj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675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Harshith Doli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0599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Mazen Moid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443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Manjil Adhikari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828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Meghana Lakshminarayana Swamy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5303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Pindaro Demertzoglou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7315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 Authority of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York &amp; New Jersey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Traffic Analytics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Forecasting Project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572000" y="3200400"/>
            <a:ext cx="6858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Progress Report  ·  Spring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BANL-6100-03  ·  University of New Haven</a:t>
            </a:r>
            <a:endParaRPr lang="en-US" sz="13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F06F5916-CBC1-7786-23C6-8E621EC65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4760780"/>
            <a:ext cx="8004048" cy="2097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Goals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96012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Traffic Factor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top factors affecting daily facility usage — weather, gas prices, severe storm events, seasonality, and vehicle mix.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11247120" cy="96012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Toll Violation Reporting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151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violation patterns by facility and time period (year / month / week) to support enforcement and revenue planning.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11247120" cy="96012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🌀  Congestion Pricing 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9417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2025 congestion pricing changes vs. prior years to detect behavioral traffic shifts across facilities.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11247120" cy="96012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⏰  </a:t>
            </a:r>
            <a:r>
              <a:rPr lang="en-US" sz="1400" b="1" dirty="0" err="1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Analysing</a:t>
            </a: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Busiest Times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7316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busiest times throughout the year and how traffic is affected by seasonality, toll violators, type of car, and other factors.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413248"/>
            <a:ext cx="11247120" cy="96012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🔮  Forecast Beyond 2025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8521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AutoTS to identify the best forecasting model and deploy results through an interactive web application and Power BI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539496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&amp; MODELING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7761" y="1600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7761" y="1920240"/>
            <a:ext cx="403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Anaconda / Jupyter Notebook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761" y="24524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7761" y="277774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Statistical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7761" y="3337560"/>
            <a:ext cx="412730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7761" y="3679795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SQLiteOnline — Data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7761" y="41862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H2O.ai AutoML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761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Model Selection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7761" y="5058039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405511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539496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68978" y="161520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8978" y="191695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Modeling &amp; Deployment Prep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74448" y="2460283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4448" y="276406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— Real-time Predictions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74448" y="3297935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68978" y="36081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of Model +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74448" y="41921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68978" y="457528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 — Scalable Cluster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8978" y="508500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8978" y="5429739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Deployment</a:t>
            </a:r>
            <a:endParaRPr lang="en-US" sz="110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282EF958-E713-C9C0-B4C1-88172F59D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3" y="1706392"/>
            <a:ext cx="384048" cy="384048"/>
          </a:xfrm>
          <a:prstGeom prst="rect">
            <a:avLst/>
          </a:prstGeom>
        </p:spPr>
      </p:pic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3831607D-9FCC-C9CB-F1D2-9B9404963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12" y="2542032"/>
            <a:ext cx="384048" cy="384048"/>
          </a:xfrm>
          <a:prstGeom prst="rect">
            <a:avLst/>
          </a:prstGeom>
        </p:spPr>
      </p:pic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D207E23C-1421-DD92-F2C0-1267E2920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12" y="3481481"/>
            <a:ext cx="384048" cy="384048"/>
          </a:xfrm>
          <a:prstGeom prst="rect">
            <a:avLst/>
          </a:prstGeom>
        </p:spPr>
      </p:pic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24851CF1-6993-70C6-371A-7B3FF5CC2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12" y="4343478"/>
            <a:ext cx="384048" cy="384048"/>
          </a:xfrm>
          <a:prstGeom prst="rect">
            <a:avLst/>
          </a:prstGeom>
        </p:spPr>
      </p:pic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FB69C1CF-84E9-AE50-37D4-CD13DE7FD3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8" y="5149616"/>
            <a:ext cx="384048" cy="384048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6DC906CD-FC86-4ECD-7AC6-2BA96DD287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0400" y="2578549"/>
            <a:ext cx="384048" cy="384048"/>
          </a:xfrm>
          <a:prstGeom prst="rect">
            <a:avLst/>
          </a:prstGeom>
        </p:spPr>
      </p:pic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17635A8D-AFB9-6326-FB5C-DF7205F0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00" y="1732319"/>
            <a:ext cx="384048" cy="384048"/>
          </a:xfrm>
          <a:prstGeom prst="rect">
            <a:avLst/>
          </a:prstGeom>
        </p:spPr>
      </p:pic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19625530-1BA7-69AF-9EE7-6F8E0BD5CB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7046" y="3398325"/>
            <a:ext cx="384048" cy="384048"/>
          </a:xfrm>
          <a:prstGeom prst="rect">
            <a:avLst/>
          </a:prstGeom>
        </p:spPr>
      </p:pic>
      <p:pic>
        <p:nvPicPr>
          <p:cNvPr id="37" name="Image 8" descr="preencoded.png">
            <a:extLst>
              <a:ext uri="{FF2B5EF4-FFF2-40B4-BE49-F238E27FC236}">
                <a16:creationId xmlns:a16="http://schemas.microsoft.com/office/drawing/2014/main" id="{A7CFAF45-51B1-8AFF-AD29-DC7540CCFE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9231" y="4311942"/>
            <a:ext cx="384048" cy="38404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11A50F2-4260-4851-7ED1-AABA811B1A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5334" y="5194339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Selection — Why These 5?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13716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490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✔  All Recorded Traffic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29,334 rows (daily, facility-level)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dataset — measures daily vehicle counts, Cash vs EZPass split, toll violations across all 8 facilities. This is our target variable source.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486400" cy="13716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✔  Facility Mobility Speeds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5,975 rows (daily)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Avg_Speed and Delta as congestion indicators. Lower speed = higher congestion. Key explanatory feature for regression and forecasting models.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548640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507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✘  Excluded Datasets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8280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PABT Passenger &amp; PABT Bus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Terminal-specific bus data — not aligned with bridge and tunnel forecasting.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5486400" cy="13716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1490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✔  NOAA Daily Weather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8105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4,018 rows  ·  Newark Airport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057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is a primary traffic driver. Temperature, precipitation, and snow directly suppress or shift travel demand.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5486400" cy="13716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0" y="29992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✔  NOAA Storm Events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331927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4,018 rows  ·  NY &amp; NJ 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566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SevereFlag (0/1) and event count per day — essential for measuring extreme weather impact on traffic volume.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434840"/>
            <a:ext cx="5486400" cy="13716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83680" y="4507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✔  EIA Gas Prices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48280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3,895 rows  ·  East Coast PADD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price drives travel behavior. Captures 2015–16 lows, COVID dip, and 2022 spike — strong economic signal for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Predictive Models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 were developed using H2O AutoML and AutoTS to answer the five business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50292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🔢  Regression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 · Stacked Ensemble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347472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R² = 0.9791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1518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RMSE = 2,718 vehicles/day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282 models evaluated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daily total_vehicles per facility. Identifies top 5 factors affecting bridge and tunnel usage. Feature importance used to answer Q1.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5989320"/>
            <a:ext cx="3474720" cy="274320"/>
          </a:xfrm>
          <a:prstGeom prst="rect">
            <a:avLst/>
          </a:prstGeom>
          <a:solidFill>
            <a:srgbClr val="0D3B6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60076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Q1, Q3, Q4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3749040" cy="50292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2628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🔵  Classification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1874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 · Gradient Boosting (Bernoulli)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2176272"/>
            <a:ext cx="347472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26280" y="226771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AUC = 0.9985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261518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F1 = 0.9711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296265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Recall = 96.79%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3337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high_violation days (binary) — violation rate &gt; 6.18%. Enables proactive enforcement scheduling with only 1.02% false alarm rate.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5989320"/>
            <a:ext cx="3474720" cy="274320"/>
          </a:xfrm>
          <a:prstGeom prst="rect">
            <a:avLst/>
          </a:prstGeom>
          <a:solidFill>
            <a:srgbClr val="0D3B6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26280" y="60076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Q2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1371600"/>
            <a:ext cx="3749040" cy="502920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5820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Time Series Forecast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1874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AutoTS · Horizontal Ensemble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2176272"/>
            <a:ext cx="347472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58200" y="226771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SMAPE = 5.23%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261518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2,922 days forecast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296265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2025 – 2032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58200" y="3337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28,360 daily records (2015–2024). Forecasts yearly vehicle counts per facility through 2032 using 2 backwards rolling validation windows.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58200" y="5989320"/>
            <a:ext cx="3474720" cy="274320"/>
          </a:xfrm>
          <a:prstGeom prst="rect">
            <a:avLst/>
          </a:prstGeom>
          <a:solidFill>
            <a:srgbClr val="0D3B6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458200" y="60076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Q5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Model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Docker + Kubernetes (Minikube) on Windows 11 with WSL2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H2O MOJO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20116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8892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1901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20116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1901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52360" y="1371600"/>
            <a:ext cx="20116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5236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☸️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901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Minikube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64040" y="1783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84080" y="1371600"/>
            <a:ext cx="20116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78408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84080" y="1901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Endpoints Deployed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11247120" cy="658368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 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564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— confirms API is running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11247120" cy="658368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 /predict/regression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2062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daily vehicle count for a given facility-date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82896"/>
            <a:ext cx="11247120" cy="658368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4956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 /predict/classification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95604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high_violation probability for a facility-day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632704"/>
            <a:ext cx="11247120" cy="658368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7058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 /predict/timeseries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570585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AutoTS forecast for selected facility and date range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Docker image deployed on Minikube · Pod running 1/1 · Service accessible via Minikube URL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📊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Explore Our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analytics across all  business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 Factors Affecting Bridge &amp; Tunnel Usage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 · Stacked Ensemble  |  R² = 0.9791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75.18%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Identity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 Factor)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4992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13.04%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4992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EZPass Ratio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(2nd Factor)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81344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0.9791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1344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06256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7696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2,718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97696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(vehicles/day)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0330" y="2131803"/>
            <a:ext cx="3796870" cy="448056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63185" y="223223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0330" y="262534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Facility Identity dominates at 75.18% — GWB Upper (28M/yr) vs Bayonne (4.3M/yr)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04953" y="3307861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EZPass Ratio (13.04%) is the most actionable lever — higher adoption = higher stable volume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09486" y="4009135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Gas Price (3.31%) is the key economic sensitivity signal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09486" y="471752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Temporal features (Day of Year, Year, Day of Week, Month) account for 5.7% combined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09486" y="54864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Weather features (Snow, Temp) contribute &lt;1.25% — operational, not structural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807794F-E193-C84A-6B5D-97A48336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5" y="1993392"/>
            <a:ext cx="4728291" cy="31541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B6BC52E-F1CF-6399-7EDF-73E12BE4D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968" y="3994516"/>
            <a:ext cx="3008480" cy="2701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Toll Violations by Time Period &amp; Facility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 · Gradient Boosting  |  AUC = 0.9985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4992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96.79%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4992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81344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0.9711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1344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06256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7696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31.08%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97696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Violation 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2020 — 12.7M violations  ·  GWB Lower highest (17.7M total)  ·  Summer months peak at 6.72% rate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B20769-1AD3-C77F-8F2E-1CA68B630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6" y="2057400"/>
            <a:ext cx="11996615" cy="4234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Busiest Times &amp; Seasonal Traffic Patterns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 · Stacked Ensemble  |  R² = 0.9791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(128.7M vehicles)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4992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Jun–Aug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4992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Season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(44K–44.9K/day)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81344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−26.83%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1344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Drop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(Holland 2020)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06256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7696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+30.84%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97696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Recovery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(Lincoln 2021)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COVID shock: −20.5% network-wide  ·  Bayonne doubled 2015→2024  ·  Friday/Saturday peak day-of-week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E1D384-ACEF-BB6D-8555-4252FC34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89" y="1993392"/>
            <a:ext cx="11370830" cy="44455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Congestion Pricing Impact in 2025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Regression + AutoTS · Horizontal Ensemble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 2025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4992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−1.46%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4992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GWB Upper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89904" y="960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GWB Upper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1344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Facility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06256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7696" y="9829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GWB Lower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97696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volume Increase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GWB Upper only facility with negative 2024 growth  ·  Bayonne (+19.3%) and Goethals (+14.6%) are forecast beneficiaries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572052E-BE4C-CDCF-303C-3BAA2ADDE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51" y="2002536"/>
            <a:ext cx="11468496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Facility Usage Forecasts 2025–2032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AutoTS · Horizontal Ensemble  |  SMAPE = 5.23%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5.23%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SMAPE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(Validation)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64992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Bayonne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4992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Growing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+19.3% by 2032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89904" y="987552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GWB Upper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1620833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Facility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−7.0% by 2032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06256" y="914400"/>
            <a:ext cx="2560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7696" y="987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97696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103120"/>
            <a:ext cx="4206240" cy="4480560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955280" y="2194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Summary (Millions)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2606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E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   Bayonne    GWB Up.    Goethals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2025          4.33          27.17          18.56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33284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2028          4.69          26.50          19.75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37124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2032          5.17          25.29          21.27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4160520"/>
            <a:ext cx="3840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955280" y="42519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Bayonne — only facility growing every year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4754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GWB Upper declining from 27.2M to 25.3M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5257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Goethals gains from congestion pricing diversion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57607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Lincoln moderate decline (−5.2%)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4BB98C-AD44-4B08-3872-344CEB1CC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07833"/>
            <a:ext cx="6664960" cy="4575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Web Application — Deployed on Vercel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430000" cy="502920"/>
          </a:xfrm>
          <a:prstGeom prst="rect">
            <a:avLst/>
          </a:prstGeom>
          <a:solidFill>
            <a:srgbClr val="0D3B6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97840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https://port-authority-ny-nj-traffic-flow-c.vercel.app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96924" y="1586484"/>
            <a:ext cx="3409852" cy="4212531"/>
          </a:xfrm>
          <a:prstGeom prst="rect">
            <a:avLst/>
          </a:prstGeom>
          <a:solidFill>
            <a:srgbClr val="152A4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828258" y="1672295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8258" y="20391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5 Question 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28258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business question with interactive charts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28258" y="270205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🔽  Live Filters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28258" y="2970273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Facility, Year, and Metric Focus filters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8258" y="336583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Dynamic Insights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28258" y="3632385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strip updates based on filter selections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8258" y="4019897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 Supabase 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8258" y="4304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pre-computed analytics tables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8258" y="4702453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  Model Attribution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8258" y="5029623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 shows which model produced the result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1722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 Can be connected to a live Port Authority API — all charts update automatically when new data is available</a:t>
            </a:r>
            <a:endParaRPr lang="en-US" sz="1100" dirty="0"/>
          </a:p>
        </p:txBody>
      </p:sp>
      <p:pic>
        <p:nvPicPr>
          <p:cNvPr id="22" name="Picture 21">
            <a:hlinkClick r:id="rId3"/>
            <a:extLst>
              <a:ext uri="{FF2B5EF4-FFF2-40B4-BE49-F238E27FC236}">
                <a16:creationId xmlns:a16="http://schemas.microsoft.com/office/drawing/2014/main" id="{5E71C9F4-B0D3-2C3B-0E6E-5EBC418C2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24" y="1704337"/>
            <a:ext cx="8239760" cy="4134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487375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Authority of New York &amp; New Jersey  ·  Group 1  ·  Spring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1272</Words>
  <Application>Microsoft Office PowerPoint</Application>
  <PresentationFormat>Widescreen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Group 1 - Port Authority</dc:creator>
  <cp:lastModifiedBy>Meghana Lakshminarayan</cp:lastModifiedBy>
  <cp:revision>7</cp:revision>
  <dcterms:created xsi:type="dcterms:W3CDTF">2026-04-26T23:06:06Z</dcterms:created>
  <dcterms:modified xsi:type="dcterms:W3CDTF">2026-04-27T03:07:12Z</dcterms:modified>
</cp:coreProperties>
</file>